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8"/>
  </p:notesMasterIdLst>
  <p:sldIdLst>
    <p:sldId id="256" r:id="rId5"/>
    <p:sldId id="257" r:id="rId6"/>
    <p:sldId id="258" r:id="rId7"/>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76ACA7-2849-6B43-AD52-A2120D8AE467}" v="11" dt="2025-12-04T23:12:14.1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4227"/>
    <p:restoredTop sz="94681"/>
  </p:normalViewPr>
  <p:slideViewPr>
    <p:cSldViewPr snapToGrid="0">
      <p:cViewPr>
        <p:scale>
          <a:sx n="109" d="100"/>
          <a:sy n="109" d="100"/>
        </p:scale>
        <p:origin x="384" y="-3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nkata Penmetsa" userId="fb136f3b-4b0a-4b9a-88c4-9108679710cc" providerId="ADAL" clId="{5D1D206D-8F09-5220-B39A-2253563CE29E}"/>
    <pc:docChg chg="undo custSel modSld">
      <pc:chgData name="Venkata Penmetsa" userId="fb136f3b-4b0a-4b9a-88c4-9108679710cc" providerId="ADAL" clId="{5D1D206D-8F09-5220-B39A-2253563CE29E}" dt="2025-12-05T00:00:34.473" v="4450" actId="20577"/>
      <pc:docMkLst>
        <pc:docMk/>
      </pc:docMkLst>
      <pc:sldChg chg="modSp mod">
        <pc:chgData name="Venkata Penmetsa" userId="fb136f3b-4b0a-4b9a-88c4-9108679710cc" providerId="ADAL" clId="{5D1D206D-8F09-5220-B39A-2253563CE29E}" dt="2025-12-04T22:22:48.510" v="3476" actId="20577"/>
        <pc:sldMkLst>
          <pc:docMk/>
          <pc:sldMk cId="1501710403" sldId="256"/>
        </pc:sldMkLst>
        <pc:graphicFrameChg chg="modGraphic">
          <ac:chgData name="Venkata Penmetsa" userId="fb136f3b-4b0a-4b9a-88c4-9108679710cc" providerId="ADAL" clId="{5D1D206D-8F09-5220-B39A-2253563CE29E}" dt="2025-12-04T22:22:48.510" v="3476" actId="20577"/>
          <ac:graphicFrameMkLst>
            <pc:docMk/>
            <pc:sldMk cId="1501710403" sldId="256"/>
            <ac:graphicFrameMk id="4" creationId="{5C505450-C5E0-1B5C-6748-4D78433A1E86}"/>
          </ac:graphicFrameMkLst>
        </pc:graphicFrameChg>
      </pc:sldChg>
      <pc:sldChg chg="addSp delSp modSp mod">
        <pc:chgData name="Venkata Penmetsa" userId="fb136f3b-4b0a-4b9a-88c4-9108679710cc" providerId="ADAL" clId="{5D1D206D-8F09-5220-B39A-2253563CE29E}" dt="2025-12-05T00:00:34.473" v="4450" actId="20577"/>
        <pc:sldMkLst>
          <pc:docMk/>
          <pc:sldMk cId="16987582" sldId="257"/>
        </pc:sldMkLst>
        <pc:spChg chg="mod">
          <ac:chgData name="Venkata Penmetsa" userId="fb136f3b-4b0a-4b9a-88c4-9108679710cc" providerId="ADAL" clId="{5D1D206D-8F09-5220-B39A-2253563CE29E}" dt="2025-12-05T00:00:34.473" v="4450" actId="20577"/>
          <ac:spMkLst>
            <pc:docMk/>
            <pc:sldMk cId="16987582" sldId="257"/>
            <ac:spMk id="3" creationId="{483CDE9C-72DC-E883-E910-51206EB5A594}"/>
          </ac:spMkLst>
        </pc:spChg>
        <pc:spChg chg="mod">
          <ac:chgData name="Venkata Penmetsa" userId="fb136f3b-4b0a-4b9a-88c4-9108679710cc" providerId="ADAL" clId="{5D1D206D-8F09-5220-B39A-2253563CE29E}" dt="2025-12-04T22:35:40.488" v="3731" actId="20577"/>
          <ac:spMkLst>
            <pc:docMk/>
            <pc:sldMk cId="16987582" sldId="257"/>
            <ac:spMk id="13" creationId="{CA1EAAA5-A1A2-3B0D-12F1-60B2E50A677D}"/>
          </ac:spMkLst>
        </pc:spChg>
        <pc:spChg chg="mod">
          <ac:chgData name="Venkata Penmetsa" userId="fb136f3b-4b0a-4b9a-88c4-9108679710cc" providerId="ADAL" clId="{5D1D206D-8F09-5220-B39A-2253563CE29E}" dt="2025-12-04T16:56:49.625" v="1953" actId="20577"/>
          <ac:spMkLst>
            <pc:docMk/>
            <pc:sldMk cId="16987582" sldId="257"/>
            <ac:spMk id="14" creationId="{720648D2-2C2F-D4B7-A939-01723E5AA434}"/>
          </ac:spMkLst>
        </pc:spChg>
        <pc:spChg chg="mod">
          <ac:chgData name="Venkata Penmetsa" userId="fb136f3b-4b0a-4b9a-88c4-9108679710cc" providerId="ADAL" clId="{5D1D206D-8F09-5220-B39A-2253563CE29E}" dt="2025-12-04T17:27:21.889" v="2667" actId="1076"/>
          <ac:spMkLst>
            <pc:docMk/>
            <pc:sldMk cId="16987582" sldId="257"/>
            <ac:spMk id="16" creationId="{303339E9-D30D-6514-92CD-6CDE78311274}"/>
          </ac:spMkLst>
        </pc:spChg>
        <pc:spChg chg="mod">
          <ac:chgData name="Venkata Penmetsa" userId="fb136f3b-4b0a-4b9a-88c4-9108679710cc" providerId="ADAL" clId="{5D1D206D-8F09-5220-B39A-2253563CE29E}" dt="2025-12-04T20:59:14.422" v="3119" actId="1076"/>
          <ac:spMkLst>
            <pc:docMk/>
            <pc:sldMk cId="16987582" sldId="257"/>
            <ac:spMk id="18" creationId="{C388C717-AB61-4AA5-0065-CF8334987466}"/>
          </ac:spMkLst>
        </pc:spChg>
        <pc:spChg chg="mod">
          <ac:chgData name="Venkata Penmetsa" userId="fb136f3b-4b0a-4b9a-88c4-9108679710cc" providerId="ADAL" clId="{5D1D206D-8F09-5220-B39A-2253563CE29E}" dt="2025-12-04T23:42:33.752" v="4447" actId="20577"/>
          <ac:spMkLst>
            <pc:docMk/>
            <pc:sldMk cId="16987582" sldId="257"/>
            <ac:spMk id="20" creationId="{5F922132-ED33-E59C-B714-DBB27B5DF6F8}"/>
          </ac:spMkLst>
        </pc:spChg>
        <pc:spChg chg="del mod">
          <ac:chgData name="Venkata Penmetsa" userId="fb136f3b-4b0a-4b9a-88c4-9108679710cc" providerId="ADAL" clId="{5D1D206D-8F09-5220-B39A-2253563CE29E}" dt="2025-12-04T23:42:31.774" v="4444" actId="21"/>
          <ac:spMkLst>
            <pc:docMk/>
            <pc:sldMk cId="16987582" sldId="257"/>
            <ac:spMk id="22" creationId="{A963A857-22CD-BC85-9293-B211890D5A3A}"/>
          </ac:spMkLst>
        </pc:spChg>
        <pc:graphicFrameChg chg="del modGraphic">
          <ac:chgData name="Venkata Penmetsa" userId="fb136f3b-4b0a-4b9a-88c4-9108679710cc" providerId="ADAL" clId="{5D1D206D-8F09-5220-B39A-2253563CE29E}" dt="2025-12-04T23:10:29.658" v="3735" actId="21"/>
          <ac:graphicFrameMkLst>
            <pc:docMk/>
            <pc:sldMk cId="16987582" sldId="257"/>
            <ac:graphicFrameMk id="2" creationId="{50697821-56EE-B522-2650-CAC52B000E80}"/>
          </ac:graphicFrameMkLst>
        </pc:graphicFrameChg>
        <pc:graphicFrameChg chg="mod modGraphic">
          <ac:chgData name="Venkata Penmetsa" userId="fb136f3b-4b0a-4b9a-88c4-9108679710cc" providerId="ADAL" clId="{5D1D206D-8F09-5220-B39A-2253563CE29E}" dt="2025-12-04T22:37:15.934" v="3733" actId="14100"/>
          <ac:graphicFrameMkLst>
            <pc:docMk/>
            <pc:sldMk cId="16987582" sldId="257"/>
            <ac:graphicFrameMk id="7" creationId="{FBE95B7C-B010-6D30-1BB3-D0BB1817071D}"/>
          </ac:graphicFrameMkLst>
        </pc:graphicFrameChg>
        <pc:graphicFrameChg chg="mod modGraphic">
          <ac:chgData name="Venkata Penmetsa" userId="fb136f3b-4b0a-4b9a-88c4-9108679710cc" providerId="ADAL" clId="{5D1D206D-8F09-5220-B39A-2253563CE29E}" dt="2025-12-04T16:48:11.705" v="1275" actId="2165"/>
          <ac:graphicFrameMkLst>
            <pc:docMk/>
            <pc:sldMk cId="16987582" sldId="257"/>
            <ac:graphicFrameMk id="19" creationId="{F586504E-E0C4-AFDD-B446-9114711C7538}"/>
          </ac:graphicFrameMkLst>
        </pc:graphicFrameChg>
        <pc:picChg chg="add del mod">
          <ac:chgData name="Venkata Penmetsa" userId="fb136f3b-4b0a-4b9a-88c4-9108679710cc" providerId="ADAL" clId="{5D1D206D-8F09-5220-B39A-2253563CE29E}" dt="2025-12-04T17:15:20.325" v="2643" actId="478"/>
          <ac:picMkLst>
            <pc:docMk/>
            <pc:sldMk cId="16987582" sldId="257"/>
            <ac:picMk id="24" creationId="{9FD8B250-F4D6-8580-45F0-B351E63B30B3}"/>
          </ac:picMkLst>
        </pc:picChg>
        <pc:picChg chg="add mod">
          <ac:chgData name="Venkata Penmetsa" userId="fb136f3b-4b0a-4b9a-88c4-9108679710cc" providerId="ADAL" clId="{5D1D206D-8F09-5220-B39A-2253563CE29E}" dt="2025-12-04T17:27:33.521" v="2670" actId="1076"/>
          <ac:picMkLst>
            <pc:docMk/>
            <pc:sldMk cId="16987582" sldId="257"/>
            <ac:picMk id="25" creationId="{43405D93-607C-0148-A3D5-AC6B7C7C1624}"/>
          </ac:picMkLst>
        </pc:picChg>
        <pc:picChg chg="add mod">
          <ac:chgData name="Venkata Penmetsa" userId="fb136f3b-4b0a-4b9a-88c4-9108679710cc" providerId="ADAL" clId="{5D1D206D-8F09-5220-B39A-2253563CE29E}" dt="2025-12-04T17:27:25.955" v="2668" actId="1076"/>
          <ac:picMkLst>
            <pc:docMk/>
            <pc:sldMk cId="16987582" sldId="257"/>
            <ac:picMk id="26" creationId="{9AC0C565-3A47-0652-68D9-F9E0C11AAC82}"/>
          </ac:picMkLst>
        </pc:picChg>
        <pc:picChg chg="add mod">
          <ac:chgData name="Venkata Penmetsa" userId="fb136f3b-4b0a-4b9a-88c4-9108679710cc" providerId="ADAL" clId="{5D1D206D-8F09-5220-B39A-2253563CE29E}" dt="2025-12-04T23:42:19.460" v="4441" actId="1076"/>
          <ac:picMkLst>
            <pc:docMk/>
            <pc:sldMk cId="16987582" sldId="257"/>
            <ac:picMk id="27" creationId="{8F87CD58-E062-CDF4-F810-D0A5DF2329AC}"/>
          </ac:picMkLst>
        </pc:picChg>
      </pc:sldChg>
      <pc:sldChg chg="modSp mod">
        <pc:chgData name="Venkata Penmetsa" userId="fb136f3b-4b0a-4b9a-88c4-9108679710cc" providerId="ADAL" clId="{5D1D206D-8F09-5220-B39A-2253563CE29E}" dt="2025-12-04T15:53:32.315" v="880" actId="255"/>
        <pc:sldMkLst>
          <pc:docMk/>
          <pc:sldMk cId="3786605963" sldId="258"/>
        </pc:sldMkLst>
        <pc:spChg chg="mod">
          <ac:chgData name="Venkata Penmetsa" userId="fb136f3b-4b0a-4b9a-88c4-9108679710cc" providerId="ADAL" clId="{5D1D206D-8F09-5220-B39A-2253563CE29E}" dt="2025-12-04T15:53:32.315" v="880" actId="255"/>
          <ac:spMkLst>
            <pc:docMk/>
            <pc:sldMk cId="3786605963" sldId="258"/>
            <ac:spMk id="3" creationId="{F739399C-279E-3BBD-A288-50D8651352A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7747F6-1B26-9547-B8EC-8BB2D7E20793}" type="datetimeFigureOut">
              <a:rPr lang="en-US" smtClean="0"/>
              <a:t>12/4/25</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10C504-4D3F-C746-9A78-38FA614C4183}" type="slidenum">
              <a:rPr lang="en-US" smtClean="0"/>
              <a:t>‹#›</a:t>
            </a:fld>
            <a:endParaRPr lang="en-US"/>
          </a:p>
        </p:txBody>
      </p:sp>
    </p:spTree>
    <p:extLst>
      <p:ext uri="{BB962C8B-B14F-4D97-AF65-F5344CB8AC3E}">
        <p14:creationId xmlns:p14="http://schemas.microsoft.com/office/powerpoint/2010/main" val="2617351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510C504-4D3F-C746-9A78-38FA614C4183}" type="slidenum">
              <a:rPr lang="en-US" smtClean="0"/>
              <a:t>2</a:t>
            </a:fld>
            <a:endParaRPr lang="en-US"/>
          </a:p>
        </p:txBody>
      </p:sp>
    </p:spTree>
    <p:extLst>
      <p:ext uri="{BB962C8B-B14F-4D97-AF65-F5344CB8AC3E}">
        <p14:creationId xmlns:p14="http://schemas.microsoft.com/office/powerpoint/2010/main" val="79582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197693733"/>
              </p:ext>
            </p:extLst>
          </p:nvPr>
        </p:nvGraphicFramePr>
        <p:xfrm>
          <a:off x="105508" y="2251279"/>
          <a:ext cx="9311542" cy="10462569"/>
        </p:xfrm>
        <a:graphic>
          <a:graphicData uri="http://schemas.openxmlformats.org/drawingml/2006/table">
            <a:tbl>
              <a:tblPr firstRow="1" bandRow="1">
                <a:tableStyleId>{5940675A-B579-460E-94D1-54222C63F5DA}</a:tableStyleId>
              </a:tblPr>
              <a:tblGrid>
                <a:gridCol w="4695092">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3863030">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050" dirty="0"/>
                        <a:t>Show two histograms here. One should show the distribution of one variable before it has been cleaned. The other should show the distribution of the same variable after cleaning. Choose a variable that needs to be cleaned!!</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 </a:t>
                      </a:r>
                      <a:endParaRPr lang="en-GB" dirty="0"/>
                    </a:p>
                    <a:p>
                      <a:r>
                        <a:rPr lang="en-GB" sz="1050" dirty="0"/>
                        <a:t>Say which variables you used in your model, and whether you treated then as numeric or categorical. Explain the impact your choices will have on the models you build. You can use a table:</a:t>
                      </a:r>
                    </a:p>
                    <a:p>
                      <a:endParaRPr lang="en-GB" sz="1200" dirty="0"/>
                    </a:p>
                  </a:txBody>
                  <a:tcPr/>
                </a:tc>
                <a:extLst>
                  <a:ext uri="{0D108BD9-81ED-4DB2-BD59-A6C34878D82A}">
                    <a16:rowId xmlns:a16="http://schemas.microsoft.com/office/drawing/2014/main" val="4220087450"/>
                  </a:ext>
                </a:extLst>
              </a:tr>
              <a:tr h="2769141">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A table showing the different models and hyper parameters you trained, along with the correct metric for each; Add a sentence on how you chose the hyper parameter values. Make sure you name the metric correctly.</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1869324">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Say how you chose the final model to test, and how you trained that model.</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Put the confusion matrix here</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Explain what the confusion matrix tells us.</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pPr marL="457200" lvl="0" indent="-457200">
                        <a:buFont typeface="Arial"/>
                        <a:buChar char="•"/>
                      </a:pPr>
                      <a:r>
                        <a:rPr lang="en-GB" sz="1050" b="0" i="0" u="none" strike="noStrike" noProof="0" dirty="0">
                          <a:solidFill>
                            <a:srgbClr val="000000"/>
                          </a:solidFill>
                          <a:latin typeface="Calibri"/>
                        </a:rPr>
                        <a:t>For example, did you learn anything about specific features that drive the model? Is the model biased towards particular groups in the data? Is the model you've chosen good for helping us to understand why particular predictions are made?</a:t>
                      </a:r>
                    </a:p>
                    <a:p>
                      <a:endParaRPr lang="en-GB" sz="1200" dirty="0"/>
                    </a:p>
                    <a:p>
                      <a:endParaRPr lang="en-GB" sz="1200" dirty="0"/>
                    </a:p>
                  </a:txBody>
                  <a:tcPr/>
                </a:tc>
                <a:extLst>
                  <a:ext uri="{0D108BD9-81ED-4DB2-BD59-A6C34878D82A}">
                    <a16:rowId xmlns:a16="http://schemas.microsoft.com/office/drawing/2014/main" val="3680923459"/>
                  </a:ext>
                </a:extLst>
              </a:tr>
              <a:tr h="1869324">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5152793" y="11490911"/>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276969338"/>
              </p:ext>
            </p:extLst>
          </p:nvPr>
        </p:nvGraphicFramePr>
        <p:xfrm>
          <a:off x="358007" y="6934687"/>
          <a:ext cx="5170923" cy="1765300"/>
        </p:xfrm>
        <a:graphic>
          <a:graphicData uri="http://schemas.openxmlformats.org/drawingml/2006/table">
            <a:tbl>
              <a:tblPr firstRow="1" bandRow="1">
                <a:tableStyleId>{5C22544A-7EE6-4342-B048-85BDC9FD1C3A}</a:tableStyleId>
              </a:tblPr>
              <a:tblGrid>
                <a:gridCol w="1723641">
                  <a:extLst>
                    <a:ext uri="{9D8B030D-6E8A-4147-A177-3AD203B41FA5}">
                      <a16:colId xmlns:a16="http://schemas.microsoft.com/office/drawing/2014/main" val="1907166431"/>
                    </a:ext>
                  </a:extLst>
                </a:gridCol>
                <a:gridCol w="2171375">
                  <a:extLst>
                    <a:ext uri="{9D8B030D-6E8A-4147-A177-3AD203B41FA5}">
                      <a16:colId xmlns:a16="http://schemas.microsoft.com/office/drawing/2014/main" val="3484362391"/>
                    </a:ext>
                  </a:extLst>
                </a:gridCol>
                <a:gridCol w="1275907">
                  <a:extLst>
                    <a:ext uri="{9D8B030D-6E8A-4147-A177-3AD203B41FA5}">
                      <a16:colId xmlns:a16="http://schemas.microsoft.com/office/drawing/2014/main" val="326053815"/>
                    </a:ext>
                  </a:extLst>
                </a:gridCol>
              </a:tblGrid>
              <a:tr h="0">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302260">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65430">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4224728883"/>
              </p:ext>
            </p:extLst>
          </p:nvPr>
        </p:nvGraphicFramePr>
        <p:xfrm>
          <a:off x="358007" y="10013788"/>
          <a:ext cx="4178298" cy="1112520"/>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220</a:t>
                      </a:r>
                    </a:p>
                  </a:txBody>
                  <a:tcPr/>
                </a:tc>
                <a:tc>
                  <a:txBody>
                    <a:bodyPr/>
                    <a:lstStyle/>
                    <a:p>
                      <a:r>
                        <a:rPr lang="en-GB" sz="1200" dirty="0"/>
                        <a:t>25</a:t>
                      </a:r>
                    </a:p>
                  </a:txBody>
                  <a:tcPr/>
                </a:tc>
                <a:extLst>
                  <a:ext uri="{0D108BD9-81ED-4DB2-BD59-A6C34878D82A}">
                    <a16:rowId xmlns:a16="http://schemas.microsoft.com/office/drawing/2014/main" val="1186692526"/>
                  </a:ext>
                </a:extLst>
              </a:tr>
              <a:tr h="370840">
                <a:tc>
                  <a:txBody>
                    <a:bodyPr/>
                    <a:lstStyle/>
                    <a:p>
                      <a:r>
                        <a:rPr lang="en-GB" sz="1200" dirty="0"/>
                        <a:t>Bad</a:t>
                      </a:r>
                    </a:p>
                  </a:txBody>
                  <a:tcPr/>
                </a:tc>
                <a:tc>
                  <a:txBody>
                    <a:bodyPr/>
                    <a:lstStyle/>
                    <a:p>
                      <a:r>
                        <a:rPr lang="en-GB" sz="1200" dirty="0"/>
                        <a:t>32</a:t>
                      </a:r>
                    </a:p>
                  </a:txBody>
                  <a:tcPr/>
                </a:tc>
                <a:tc>
                  <a:txBody>
                    <a:bodyPr/>
                    <a:lstStyle/>
                    <a:p>
                      <a:r>
                        <a:rPr lang="en-GB" sz="1200" dirty="0"/>
                        <a:t>195</a:t>
                      </a:r>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endParaRPr lang="en-GB" sz="2000" dirty="0">
              <a:ea typeface="Calibri"/>
              <a:cs typeface="Calibri"/>
            </a:endParaRPr>
          </a:p>
          <a:p>
            <a:r>
              <a:rPr lang="en-GB" sz="2800" dirty="0"/>
              <a:t>CSCU9M5 Assignment 1. Student Number </a:t>
            </a:r>
            <a:r>
              <a:rPr lang="en-GB" sz="2800" dirty="0" err="1"/>
              <a:t>xxxxxx</a:t>
            </a:r>
            <a:endParaRPr lang="en-GB" sz="2800" dirty="0" err="1">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97745608"/>
              </p:ext>
            </p:extLst>
          </p:nvPr>
        </p:nvGraphicFramePr>
        <p:xfrm>
          <a:off x="5153661" y="3317174"/>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61399" y="4785756"/>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780106" y="4845977"/>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830784" y="7243443"/>
            <a:ext cx="3265715" cy="1200329"/>
          </a:xfrm>
          <a:prstGeom prst="rect">
            <a:avLst/>
          </a:prstGeom>
          <a:noFill/>
        </p:spPr>
        <p:txBody>
          <a:bodyPr wrap="square" rtlCol="0">
            <a:spAutoFit/>
          </a:bodyPr>
          <a:lstStyle/>
          <a:p>
            <a:r>
              <a:rPr lang="en-US" dirty="0"/>
              <a:t>Explain here how you chose the hyper parameter settings to explore and how you ran your experiments.</a:t>
            </a:r>
            <a:endParaRPr lang="en-GB" dirty="0"/>
          </a:p>
        </p:txBody>
      </p:sp>
    </p:spTree>
    <p:extLst>
      <p:ext uri="{BB962C8B-B14F-4D97-AF65-F5344CB8AC3E}">
        <p14:creationId xmlns:p14="http://schemas.microsoft.com/office/powerpoint/2010/main" val="1501710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720648D2-2C2F-D4B7-A939-01723E5AA434}"/>
              </a:ext>
            </a:extLst>
          </p:cNvPr>
          <p:cNvSpPr txBox="1"/>
          <p:nvPr/>
        </p:nvSpPr>
        <p:spPr>
          <a:xfrm>
            <a:off x="4538982" y="784321"/>
            <a:ext cx="4767909" cy="4278094"/>
          </a:xfrm>
          <a:prstGeom prst="rect">
            <a:avLst/>
          </a:prstGeom>
          <a:noFill/>
          <a:ln w="38100">
            <a:solidFill>
              <a:schemeClr val="accent1">
                <a:lumMod val="60000"/>
                <a:lumOff val="40000"/>
              </a:schemeClr>
            </a:solidFill>
          </a:ln>
        </p:spPr>
        <p:txBody>
          <a:bodyPr wrap="square" lIns="91440" tIns="45720" rIns="91440" bIns="45720" anchor="t">
            <a:spAutoFit/>
          </a:bodyPr>
          <a:lstStyle/>
          <a:p>
            <a:pPr lvl="0" defTabSz="1706910">
              <a:defRPr/>
            </a:pPr>
            <a:r>
              <a:rPr lang="en-GB" sz="2000" dirty="0"/>
              <a:t>3 Variables/ Data Understanding</a:t>
            </a:r>
          </a:p>
          <a:p>
            <a:pPr lvl="0" defTabSz="1706910">
              <a:defRPr/>
            </a:pPr>
            <a:r>
              <a:rPr lang="en-GB" sz="1200" dirty="0"/>
              <a:t>The variables used are:</a:t>
            </a:r>
          </a:p>
          <a:p>
            <a:pPr lvl="0" defTabSz="1706910">
              <a:defRPr/>
            </a:pPr>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r>
              <a:rPr lang="en-GB" sz="1200" dirty="0">
                <a:solidFill>
                  <a:prstClr val="black"/>
                </a:solidFill>
                <a:latin typeface="Calibri" panose="020F0502020204030204"/>
              </a:rPr>
              <a:t>All the environmental variables are treated as continuous numeric variables. The month variable is treated as nominal categorical. The target area variable is treated as binary categorical which shows whether the burned area exceeds 4%. The X, Y variables are not used as they don’t really add a lot of information in the dataset. Most of the rain values are zero which is why it has been removed. The day variable don’t necessarily help the model as we don’t want to see weekly patterns which is why It has been removed as well. </a:t>
            </a:r>
          </a:p>
        </p:txBody>
      </p:sp>
      <p:sp>
        <p:nvSpPr>
          <p:cNvPr id="18" name="TextBox 17">
            <a:extLst>
              <a:ext uri="{FF2B5EF4-FFF2-40B4-BE49-F238E27FC236}">
                <a16:creationId xmlns:a16="http://schemas.microsoft.com/office/drawing/2014/main" id="{C388C717-AB61-4AA5-0065-CF8334987466}"/>
              </a:ext>
            </a:extLst>
          </p:cNvPr>
          <p:cNvSpPr txBox="1"/>
          <p:nvPr/>
        </p:nvSpPr>
        <p:spPr>
          <a:xfrm>
            <a:off x="475353" y="6121626"/>
            <a:ext cx="8848120" cy="1877437"/>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83644" y="8223912"/>
            <a:ext cx="8831538" cy="2062103"/>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The final model was evaluated on the 30% test using confusion matrix. It correctly </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predicted : </a:t>
            </a:r>
            <a:r>
              <a:rPr lang="en-GB" sz="1200" dirty="0">
                <a:solidFill>
                  <a:prstClr val="black"/>
                </a:solidFill>
                <a:latin typeface="Calibri" panose="020F0502020204030204"/>
              </a:rPr>
              <a:t>74 large fire cases (true positives) and 56 non-large</a:t>
            </a: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 fire cases (true negatives)</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200" dirty="0">
                <a:solidFill>
                  <a:prstClr val="black"/>
                </a:solidFill>
                <a:latin typeface="Calibri" panose="020F0502020204030204"/>
              </a:rPr>
              <a:t>Which is around 88%</a:t>
            </a: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 correctly predicting the outcomes which matched with our F1 </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validation metric. The model made 9 false positives </a:t>
            </a:r>
            <a:r>
              <a:rPr lang="en-GB" sz="1200" dirty="0">
                <a:solidFill>
                  <a:prstClr val="black"/>
                </a:solidFill>
                <a:latin typeface="Calibri" panose="020F0502020204030204"/>
              </a:rPr>
              <a:t>(predicting a fire when there is none) </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200" dirty="0">
                <a:solidFill>
                  <a:prstClr val="black"/>
                </a:solidFill>
                <a:latin typeface="Calibri" panose="020F0502020204030204"/>
              </a:rPr>
              <a:t>and 9 false negatives (failed to predict a fire). </a:t>
            </a:r>
            <a:r>
              <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rPr>
              <a:t>                                        </a:t>
            </a:r>
            <a:endParaRPr lang="en-GB" sz="12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4244609432"/>
              </p:ext>
            </p:extLst>
          </p:nvPr>
        </p:nvGraphicFramePr>
        <p:xfrm>
          <a:off x="4767435" y="5313198"/>
          <a:ext cx="4358411" cy="2773680"/>
        </p:xfrm>
        <a:graphic>
          <a:graphicData uri="http://schemas.openxmlformats.org/drawingml/2006/table">
            <a:tbl>
              <a:tblPr firstRow="1" bandRow="1">
                <a:tableStyleId>{5C22544A-7EE6-4342-B048-85BDC9FD1C3A}</a:tableStyleId>
              </a:tblPr>
              <a:tblGrid>
                <a:gridCol w="1451737">
                  <a:extLst>
                    <a:ext uri="{9D8B030D-6E8A-4147-A177-3AD203B41FA5}">
                      <a16:colId xmlns:a16="http://schemas.microsoft.com/office/drawing/2014/main" val="1907166431"/>
                    </a:ext>
                  </a:extLst>
                </a:gridCol>
                <a:gridCol w="1904920">
                  <a:extLst>
                    <a:ext uri="{9D8B030D-6E8A-4147-A177-3AD203B41FA5}">
                      <a16:colId xmlns:a16="http://schemas.microsoft.com/office/drawing/2014/main" val="3484362391"/>
                    </a:ext>
                  </a:extLst>
                </a:gridCol>
                <a:gridCol w="1001754">
                  <a:extLst>
                    <a:ext uri="{9D8B030D-6E8A-4147-A177-3AD203B41FA5}">
                      <a16:colId xmlns:a16="http://schemas.microsoft.com/office/drawing/2014/main" val="326053815"/>
                    </a:ext>
                  </a:extLst>
                </a:gridCol>
              </a:tblGrid>
              <a:tr h="345539">
                <a:tc>
                  <a:txBody>
                    <a:bodyPr/>
                    <a:lstStyle/>
                    <a:p>
                      <a:r>
                        <a:rPr lang="en-GB" sz="1300" dirty="0"/>
                        <a:t>Model</a:t>
                      </a:r>
                    </a:p>
                  </a:txBody>
                  <a:tcPr/>
                </a:tc>
                <a:tc>
                  <a:txBody>
                    <a:bodyPr/>
                    <a:lstStyle/>
                    <a:p>
                      <a:r>
                        <a:rPr lang="en-GB" sz="1300" dirty="0"/>
                        <a:t>Hyper Parameters</a:t>
                      </a:r>
                    </a:p>
                  </a:txBody>
                  <a:tcPr/>
                </a:tc>
                <a:tc>
                  <a:txBody>
                    <a:bodyPr/>
                    <a:lstStyle/>
                    <a:p>
                      <a:r>
                        <a:rPr lang="en-GB" sz="1300" dirty="0"/>
                        <a:t>Validation Metric (F1)</a:t>
                      </a:r>
                    </a:p>
                  </a:txBody>
                  <a:tcPr/>
                </a:tc>
                <a:extLst>
                  <a:ext uri="{0D108BD9-81ED-4DB2-BD59-A6C34878D82A}">
                    <a16:rowId xmlns:a16="http://schemas.microsoft.com/office/drawing/2014/main" val="3158663126"/>
                  </a:ext>
                </a:extLst>
              </a:tr>
              <a:tr h="323943">
                <a:tc>
                  <a:txBody>
                    <a:bodyPr/>
                    <a:lstStyle/>
                    <a:p>
                      <a:r>
                        <a:rPr lang="en-GB" sz="1200" dirty="0"/>
                        <a:t>Logistic regression</a:t>
                      </a:r>
                    </a:p>
                  </a:txBody>
                  <a:tcPr/>
                </a:tc>
                <a:tc>
                  <a:txBody>
                    <a:bodyPr/>
                    <a:lstStyle/>
                    <a:p>
                      <a:r>
                        <a:rPr lang="en-GB" sz="1200" dirty="0"/>
                        <a:t>C = 1; Regularisation type = L2</a:t>
                      </a:r>
                    </a:p>
                  </a:txBody>
                  <a:tcPr/>
                </a:tc>
                <a:tc>
                  <a:txBody>
                    <a:bodyPr/>
                    <a:lstStyle/>
                    <a:p>
                      <a:r>
                        <a:rPr lang="en-GB" sz="1200" dirty="0"/>
                        <a:t>63.2 %</a:t>
                      </a:r>
                    </a:p>
                  </a:txBody>
                  <a:tcPr/>
                </a:tc>
                <a:extLst>
                  <a:ext uri="{0D108BD9-81ED-4DB2-BD59-A6C34878D82A}">
                    <a16:rowId xmlns:a16="http://schemas.microsoft.com/office/drawing/2014/main" val="391472538"/>
                  </a:ext>
                </a:extLst>
              </a:tr>
              <a:tr h="32394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Neural network</a:t>
                      </a:r>
                      <a:endParaRPr lang="en-GB" sz="1200" dirty="0"/>
                    </a:p>
                  </a:txBody>
                  <a:tcPr/>
                </a:tc>
                <a:tc>
                  <a:txBody>
                    <a:bodyPr/>
                    <a:lstStyle/>
                    <a:p>
                      <a:r>
                        <a:rPr lang="en-GB" sz="1200" dirty="0"/>
                        <a:t>Hidden layers = 100;</a:t>
                      </a:r>
                    </a:p>
                    <a:p>
                      <a:r>
                        <a:rPr lang="en-GB" sz="1200" dirty="0"/>
                        <a:t>Max iterations = 200</a:t>
                      </a:r>
                    </a:p>
                  </a:txBody>
                  <a:tcPr/>
                </a:tc>
                <a:tc>
                  <a:txBody>
                    <a:bodyPr/>
                    <a:lstStyle/>
                    <a:p>
                      <a:r>
                        <a:rPr lang="en-GB" sz="1200" dirty="0"/>
                        <a:t>79.6 %</a:t>
                      </a:r>
                    </a:p>
                  </a:txBody>
                  <a:tcPr/>
                </a:tc>
                <a:extLst>
                  <a:ext uri="{0D108BD9-81ED-4DB2-BD59-A6C34878D82A}">
                    <a16:rowId xmlns:a16="http://schemas.microsoft.com/office/drawing/2014/main" val="3680307176"/>
                  </a:ext>
                </a:extLst>
              </a:tr>
              <a:tr h="32394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Gradient boosting</a:t>
                      </a:r>
                      <a:endParaRPr lang="en-GB" sz="1200" dirty="0"/>
                    </a:p>
                  </a:txBody>
                  <a:tcPr/>
                </a:tc>
                <a:tc>
                  <a:txBody>
                    <a:bodyPr/>
                    <a:lstStyle/>
                    <a:p>
                      <a:r>
                        <a:rPr lang="en-GB" sz="1200" dirty="0"/>
                        <a:t>No of trees = 75; learning rate = 0.1</a:t>
                      </a:r>
                    </a:p>
                  </a:txBody>
                  <a:tcPr/>
                </a:tc>
                <a:tc>
                  <a:txBody>
                    <a:bodyPr/>
                    <a:lstStyle/>
                    <a:p>
                      <a:r>
                        <a:rPr lang="en-GB" sz="1200" dirty="0"/>
                        <a:t>87.8 %</a:t>
                      </a:r>
                    </a:p>
                  </a:txBody>
                  <a:tcPr/>
                </a:tc>
                <a:extLst>
                  <a:ext uri="{0D108BD9-81ED-4DB2-BD59-A6C34878D82A}">
                    <a16:rowId xmlns:a16="http://schemas.microsoft.com/office/drawing/2014/main" val="1144539082"/>
                  </a:ext>
                </a:extLst>
              </a:tr>
              <a:tr h="194366">
                <a:tc>
                  <a:txBody>
                    <a:bodyPr/>
                    <a:lstStyle/>
                    <a:p>
                      <a:r>
                        <a:rPr lang="en-US" sz="1200" dirty="0"/>
                        <a:t>Random forest</a:t>
                      </a:r>
                    </a:p>
                  </a:txBody>
                  <a:tcPr/>
                </a:tc>
                <a:tc>
                  <a:txBody>
                    <a:bodyPr/>
                    <a:lstStyle/>
                    <a:p>
                      <a:r>
                        <a:rPr lang="en-GB" sz="1200" dirty="0"/>
                        <a:t>No of trees = 100</a:t>
                      </a:r>
                    </a:p>
                  </a:txBody>
                  <a:tcPr/>
                </a:tc>
                <a:tc>
                  <a:txBody>
                    <a:bodyPr/>
                    <a:lstStyle/>
                    <a:p>
                      <a:r>
                        <a:rPr lang="en-GB" sz="1200" dirty="0"/>
                        <a:t>85.8 %</a:t>
                      </a:r>
                    </a:p>
                  </a:txBody>
                  <a:tcPr/>
                </a:tc>
                <a:extLst>
                  <a:ext uri="{0D108BD9-81ED-4DB2-BD59-A6C34878D82A}">
                    <a16:rowId xmlns:a16="http://schemas.microsoft.com/office/drawing/2014/main" val="3656706315"/>
                  </a:ext>
                </a:extLst>
              </a:tr>
              <a:tr h="453520">
                <a:tc>
                  <a:txBody>
                    <a:bodyPr/>
                    <a:lstStyle/>
                    <a:p>
                      <a:r>
                        <a:rPr lang="en-US" sz="1200" dirty="0" err="1"/>
                        <a:t>kNN</a:t>
                      </a:r>
                      <a:endParaRPr lang="en-US" sz="1200" dirty="0"/>
                    </a:p>
                  </a:txBody>
                  <a:tcPr/>
                </a:tc>
                <a:tc>
                  <a:txBody>
                    <a:bodyPr/>
                    <a:lstStyle/>
                    <a:p>
                      <a:r>
                        <a:rPr lang="en-GB" sz="1200" dirty="0"/>
                        <a:t>No of neighbour=  10;</a:t>
                      </a:r>
                    </a:p>
                    <a:p>
                      <a:r>
                        <a:rPr lang="en-GB" sz="1200" dirty="0"/>
                        <a:t>Metric = Euclidean</a:t>
                      </a:r>
                    </a:p>
                    <a:p>
                      <a:r>
                        <a:rPr lang="en-GB" sz="1200" dirty="0"/>
                        <a:t>Weight =. uniform</a:t>
                      </a:r>
                    </a:p>
                  </a:txBody>
                  <a:tcPr/>
                </a:tc>
                <a:tc>
                  <a:txBody>
                    <a:bodyPr/>
                    <a:lstStyle/>
                    <a:p>
                      <a:r>
                        <a:rPr lang="en-GB" sz="1200" dirty="0"/>
                        <a:t>82.4 %</a:t>
                      </a:r>
                    </a:p>
                  </a:txBody>
                  <a:tcPr/>
                </a:tc>
                <a:extLst>
                  <a:ext uri="{0D108BD9-81ED-4DB2-BD59-A6C34878D82A}">
                    <a16:rowId xmlns:a16="http://schemas.microsoft.com/office/drawing/2014/main" val="3739602408"/>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32391"/>
            <a:ext cx="8885186" cy="523220"/>
          </a:xfrm>
          <a:prstGeom prst="rect">
            <a:avLst/>
          </a:prstGeom>
          <a:noFill/>
        </p:spPr>
        <p:txBody>
          <a:bodyPr wrap="square" lIns="91440" tIns="45720" rIns="91440" bIns="45720" rtlCol="0" anchor="t">
            <a:spAutoFit/>
          </a:bodyPr>
          <a:lstStyle/>
          <a:p>
            <a:r>
              <a:rPr lang="en-GB" sz="2800" dirty="0"/>
              <a:t>CSCU9M5 Assignment 1. Student Number </a:t>
            </a:r>
            <a:r>
              <a:rPr lang="en-GB" sz="2800" dirty="0" err="1"/>
              <a:t>xxxxxx</a:t>
            </a:r>
            <a:endParaRPr lang="en-GB" sz="2800" dirty="0">
              <a:ea typeface="Calibri" panose="020F0502020204030204"/>
              <a:cs typeface="Calibri" panose="020F0502020204030204"/>
            </a:endParaRPr>
          </a:p>
        </p:txBody>
      </p:sp>
      <p:sp>
        <p:nvSpPr>
          <p:cNvPr id="10" name="Rectangle 9">
            <a:extLst>
              <a:ext uri="{FF2B5EF4-FFF2-40B4-BE49-F238E27FC236}">
                <a16:creationId xmlns:a16="http://schemas.microsoft.com/office/drawing/2014/main" id="{61114EC5-034B-1ADA-C1F8-62FDCCE2A9A4}"/>
              </a:ext>
            </a:extLst>
          </p:cNvPr>
          <p:cNvSpPr/>
          <p:nvPr/>
        </p:nvSpPr>
        <p:spPr>
          <a:xfrm>
            <a:off x="592443" y="479891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403013" y="479967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24029" y="6402483"/>
            <a:ext cx="4243406" cy="1569660"/>
          </a:xfrm>
          <a:prstGeom prst="rect">
            <a:avLst/>
          </a:prstGeom>
          <a:noFill/>
          <a:ln w="38100">
            <a:noFill/>
          </a:ln>
        </p:spPr>
        <p:txBody>
          <a:bodyPr wrap="square" rtlCol="0">
            <a:spAutoFit/>
          </a:bodyPr>
          <a:lstStyle/>
          <a:p>
            <a:r>
              <a:rPr lang="en-US" sz="1200" dirty="0">
                <a:solidFill>
                  <a:prstClr val="black"/>
                </a:solidFill>
                <a:latin typeface="Calibri" panose="020F0502020204030204"/>
              </a:rPr>
              <a:t>I trained five different models Logistic Reasoning, Neural Network, gradient boosting, Random Forest, </a:t>
            </a:r>
            <a:r>
              <a:rPr lang="en-US" sz="1200" dirty="0" err="1">
                <a:solidFill>
                  <a:prstClr val="black"/>
                </a:solidFill>
                <a:latin typeface="Calibri" panose="020F0502020204030204"/>
              </a:rPr>
              <a:t>kNN</a:t>
            </a:r>
            <a:r>
              <a:rPr lang="en-US" sz="1200" dirty="0">
                <a:solidFill>
                  <a:prstClr val="black"/>
                </a:solidFill>
                <a:latin typeface="Calibri" panose="020F0502020204030204"/>
              </a:rPr>
              <a:t>. All these models are trained using a 70/30 train-test split. I used F1 score as the validation metric as it balances both precision and recall making it useful when dealing with class imbalance. Gradient boosting was the best performing model. I tuned the hyper parameters for the best performing models to give a better score and ended up with the best performing model.  </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80777" y="787770"/>
            <a:ext cx="3830021" cy="1838965"/>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dirty="0"/>
              <a:t>List the steps you took to carry out the project</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200" dirty="0"/>
          </a:p>
          <a:p>
            <a:endParaRPr lang="en-GB" sz="1200" dirty="0"/>
          </a:p>
          <a:p>
            <a:endParaRPr lang="en-GB" sz="800" dirty="0"/>
          </a:p>
          <a:p>
            <a:endParaRPr lang="en-GB" sz="8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p:txBody>
      </p:sp>
      <p:sp>
        <p:nvSpPr>
          <p:cNvPr id="16" name="TextBox 15">
            <a:extLst>
              <a:ext uri="{FF2B5EF4-FFF2-40B4-BE49-F238E27FC236}">
                <a16:creationId xmlns:a16="http://schemas.microsoft.com/office/drawing/2014/main" id="{303339E9-D30D-6514-92CD-6CDE78311274}"/>
              </a:ext>
            </a:extLst>
          </p:cNvPr>
          <p:cNvSpPr txBox="1"/>
          <p:nvPr/>
        </p:nvSpPr>
        <p:spPr>
          <a:xfrm>
            <a:off x="475353" y="2691667"/>
            <a:ext cx="3830021" cy="3308598"/>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   </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200" dirty="0">
                <a:solidFill>
                  <a:prstClr val="black"/>
                </a:solidFill>
                <a:latin typeface="Calibri" panose="020F0502020204030204"/>
              </a:rPr>
              <a:t>I decided to clean the ISI variable. It initially had a positively skewed graph with many outliers. The histogram on the left shows the variable before cleaning. It is wide and uneven. After removing several outliers the histogram on the right shows much smoother and even distribution. This is done so that the model receives a consistent data and improves the final prediction.  </a:t>
            </a: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3" name="TextBox 2">
            <a:extLst>
              <a:ext uri="{FF2B5EF4-FFF2-40B4-BE49-F238E27FC236}">
                <a16:creationId xmlns:a16="http://schemas.microsoft.com/office/drawing/2014/main" id="{483CDE9C-72DC-E883-E910-51206EB5A594}"/>
              </a:ext>
            </a:extLst>
          </p:cNvPr>
          <p:cNvSpPr txBox="1"/>
          <p:nvPr/>
        </p:nvSpPr>
        <p:spPr>
          <a:xfrm>
            <a:off x="540612" y="10404012"/>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graphicFrame>
        <p:nvGraphicFramePr>
          <p:cNvPr id="19" name="Table 18">
            <a:extLst>
              <a:ext uri="{FF2B5EF4-FFF2-40B4-BE49-F238E27FC236}">
                <a16:creationId xmlns:a16="http://schemas.microsoft.com/office/drawing/2014/main" id="{F586504E-E0C4-AFDD-B446-9114711C7538}"/>
              </a:ext>
            </a:extLst>
          </p:cNvPr>
          <p:cNvGraphicFramePr>
            <a:graphicFrameLocks noGrp="1"/>
          </p:cNvGraphicFramePr>
          <p:nvPr>
            <p:extLst>
              <p:ext uri="{D42A27DB-BD31-4B8C-83A1-F6EECF244321}">
                <p14:modId xmlns:p14="http://schemas.microsoft.com/office/powerpoint/2010/main" val="1664028388"/>
              </p:ext>
            </p:extLst>
          </p:nvPr>
        </p:nvGraphicFramePr>
        <p:xfrm>
          <a:off x="4775726" y="1392092"/>
          <a:ext cx="4116659" cy="1879698"/>
        </p:xfrm>
        <a:graphic>
          <a:graphicData uri="http://schemas.openxmlformats.org/drawingml/2006/table">
            <a:tbl>
              <a:tblPr firstRow="1" bandRow="1">
                <a:tableStyleId>{5C22544A-7EE6-4342-B048-85BDC9FD1C3A}</a:tableStyleId>
              </a:tblPr>
              <a:tblGrid>
                <a:gridCol w="972881">
                  <a:extLst>
                    <a:ext uri="{9D8B030D-6E8A-4147-A177-3AD203B41FA5}">
                      <a16:colId xmlns:a16="http://schemas.microsoft.com/office/drawing/2014/main" val="4277499917"/>
                    </a:ext>
                  </a:extLst>
                </a:gridCol>
                <a:gridCol w="1571889">
                  <a:extLst>
                    <a:ext uri="{9D8B030D-6E8A-4147-A177-3AD203B41FA5}">
                      <a16:colId xmlns:a16="http://schemas.microsoft.com/office/drawing/2014/main" val="3438916551"/>
                    </a:ext>
                  </a:extLst>
                </a:gridCol>
                <a:gridCol w="1571889">
                  <a:extLst>
                    <a:ext uri="{9D8B030D-6E8A-4147-A177-3AD203B41FA5}">
                      <a16:colId xmlns:a16="http://schemas.microsoft.com/office/drawing/2014/main" val="2670052056"/>
                    </a:ext>
                  </a:extLst>
                </a:gridCol>
              </a:tblGrid>
              <a:tr h="352246">
                <a:tc>
                  <a:txBody>
                    <a:bodyPr/>
                    <a:lstStyle/>
                    <a:p>
                      <a:pPr algn="ctr"/>
                      <a:r>
                        <a:rPr lang="en-US" sz="1200" dirty="0"/>
                        <a:t>Variables</a:t>
                      </a:r>
                    </a:p>
                  </a:txBody>
                  <a:tcPr/>
                </a:tc>
                <a:tc>
                  <a:txBody>
                    <a:bodyPr/>
                    <a:lstStyle/>
                    <a:p>
                      <a:pPr algn="ctr"/>
                      <a:r>
                        <a:rPr lang="en-US" sz="1200" dirty="0"/>
                        <a:t>type</a:t>
                      </a:r>
                    </a:p>
                  </a:txBody>
                  <a:tcPr/>
                </a:tc>
                <a:tc>
                  <a:txBody>
                    <a:bodyPr/>
                    <a:lstStyle/>
                    <a:p>
                      <a:pPr algn="ctr"/>
                      <a:r>
                        <a:rPr lang="en-US" sz="1200" dirty="0"/>
                        <a:t>Used in model </a:t>
                      </a:r>
                    </a:p>
                  </a:txBody>
                  <a:tcPr/>
                </a:tc>
                <a:extLst>
                  <a:ext uri="{0D108BD9-81ED-4DB2-BD59-A6C34878D82A}">
                    <a16:rowId xmlns:a16="http://schemas.microsoft.com/office/drawing/2014/main" val="395403175"/>
                  </a:ext>
                </a:extLst>
              </a:tr>
              <a:tr h="352246">
                <a:tc>
                  <a:txBody>
                    <a:bodyPr/>
                    <a:lstStyle/>
                    <a:p>
                      <a:pPr algn="ctr"/>
                      <a:r>
                        <a:rPr lang="en-US" sz="1200" dirty="0"/>
                        <a:t>Month </a:t>
                      </a:r>
                    </a:p>
                  </a:txBody>
                  <a:tcPr/>
                </a:tc>
                <a:tc>
                  <a:txBody>
                    <a:bodyPr/>
                    <a:lstStyle/>
                    <a:p>
                      <a:pPr algn="ctr"/>
                      <a:r>
                        <a:rPr lang="en-US" sz="1200" dirty="0"/>
                        <a:t>Categorical (nominal)</a:t>
                      </a:r>
                    </a:p>
                  </a:txBody>
                  <a:tcPr/>
                </a:tc>
                <a:tc>
                  <a:txBody>
                    <a:bodyPr/>
                    <a:lstStyle/>
                    <a:p>
                      <a:pPr algn="ctr"/>
                      <a:r>
                        <a:rPr lang="en-US" sz="1200" dirty="0"/>
                        <a:t>Yes </a:t>
                      </a:r>
                    </a:p>
                  </a:txBody>
                  <a:tcPr/>
                </a:tc>
                <a:extLst>
                  <a:ext uri="{0D108BD9-81ED-4DB2-BD59-A6C34878D82A}">
                    <a16:rowId xmlns:a16="http://schemas.microsoft.com/office/drawing/2014/main" val="435795259"/>
                  </a:ext>
                </a:extLst>
              </a:tr>
              <a:tr h="514731">
                <a:tc>
                  <a:txBody>
                    <a:bodyPr/>
                    <a:lstStyle/>
                    <a:p>
                      <a:pPr algn="ctr"/>
                      <a:r>
                        <a:rPr lang="en-US" sz="1200" dirty="0"/>
                        <a:t>FFMC, DMC, DC,ISI, TEMP, RH, WIND</a:t>
                      </a:r>
                    </a:p>
                  </a:txBody>
                  <a:tcPr/>
                </a:tc>
                <a:tc>
                  <a:txBody>
                    <a:bodyPr/>
                    <a:lstStyle/>
                    <a:p>
                      <a:pPr algn="ctr"/>
                      <a:r>
                        <a:rPr lang="en-US" sz="1200" dirty="0"/>
                        <a:t>Numeric (continuous)</a:t>
                      </a:r>
                    </a:p>
                  </a:txBody>
                  <a:tcPr/>
                </a:tc>
                <a:tc>
                  <a:txBody>
                    <a:bodyPr/>
                    <a:lstStyle/>
                    <a:p>
                      <a:pPr algn="ctr"/>
                      <a:r>
                        <a:rPr lang="en-US" sz="1200" dirty="0"/>
                        <a:t>Yes</a:t>
                      </a:r>
                    </a:p>
                  </a:txBody>
                  <a:tcPr/>
                </a:tc>
                <a:extLst>
                  <a:ext uri="{0D108BD9-81ED-4DB2-BD59-A6C34878D82A}">
                    <a16:rowId xmlns:a16="http://schemas.microsoft.com/office/drawing/2014/main" val="2412655748"/>
                  </a:ext>
                </a:extLst>
              </a:tr>
              <a:tr h="352246">
                <a:tc>
                  <a:txBody>
                    <a:bodyPr/>
                    <a:lstStyle/>
                    <a:p>
                      <a:pPr algn="ctr"/>
                      <a:r>
                        <a:rPr lang="en-US" sz="1200" dirty="0"/>
                        <a:t>area</a:t>
                      </a:r>
                    </a:p>
                  </a:txBody>
                  <a:tcPr/>
                </a:tc>
                <a:tc>
                  <a:txBody>
                    <a:bodyPr/>
                    <a:lstStyle/>
                    <a:p>
                      <a:pPr algn="ctr"/>
                      <a:r>
                        <a:rPr lang="en-US" sz="1200" dirty="0"/>
                        <a:t>Categorical (binary)</a:t>
                      </a:r>
                    </a:p>
                  </a:txBody>
                  <a:tcPr/>
                </a:tc>
                <a:tc>
                  <a:txBody>
                    <a:bodyPr/>
                    <a:lstStyle/>
                    <a:p>
                      <a:pPr algn="ctr"/>
                      <a:r>
                        <a:rPr lang="en-US" sz="1200" dirty="0"/>
                        <a:t>Yes (target)</a:t>
                      </a:r>
                    </a:p>
                  </a:txBody>
                  <a:tcPr/>
                </a:tc>
                <a:extLst>
                  <a:ext uri="{0D108BD9-81ED-4DB2-BD59-A6C34878D82A}">
                    <a16:rowId xmlns:a16="http://schemas.microsoft.com/office/drawing/2014/main" val="458789843"/>
                  </a:ext>
                </a:extLst>
              </a:tr>
            </a:tbl>
          </a:graphicData>
        </a:graphic>
      </p:graphicFrame>
      <p:pic>
        <p:nvPicPr>
          <p:cNvPr id="25" name="Picture 24">
            <a:extLst>
              <a:ext uri="{FF2B5EF4-FFF2-40B4-BE49-F238E27FC236}">
                <a16:creationId xmlns:a16="http://schemas.microsoft.com/office/drawing/2014/main" id="{43405D93-607C-0148-A3D5-AC6B7C7C1624}"/>
              </a:ext>
            </a:extLst>
          </p:cNvPr>
          <p:cNvPicPr>
            <a:picLocks noChangeAspect="1"/>
          </p:cNvPicPr>
          <p:nvPr/>
        </p:nvPicPr>
        <p:blipFill>
          <a:blip r:embed="rId3"/>
          <a:stretch>
            <a:fillRect/>
          </a:stretch>
        </p:blipFill>
        <p:spPr>
          <a:xfrm>
            <a:off x="2390363" y="4416527"/>
            <a:ext cx="1835673" cy="1488996"/>
          </a:xfrm>
          <a:prstGeom prst="rect">
            <a:avLst/>
          </a:prstGeom>
        </p:spPr>
      </p:pic>
      <p:pic>
        <p:nvPicPr>
          <p:cNvPr id="26" name="Picture 25">
            <a:extLst>
              <a:ext uri="{FF2B5EF4-FFF2-40B4-BE49-F238E27FC236}">
                <a16:creationId xmlns:a16="http://schemas.microsoft.com/office/drawing/2014/main" id="{9AC0C565-3A47-0652-68D9-F9E0C11AAC82}"/>
              </a:ext>
            </a:extLst>
          </p:cNvPr>
          <p:cNvPicPr>
            <a:picLocks noChangeAspect="1"/>
          </p:cNvPicPr>
          <p:nvPr/>
        </p:nvPicPr>
        <p:blipFill>
          <a:blip r:embed="rId4"/>
          <a:stretch>
            <a:fillRect/>
          </a:stretch>
        </p:blipFill>
        <p:spPr>
          <a:xfrm>
            <a:off x="540612" y="4406612"/>
            <a:ext cx="1804216" cy="1508826"/>
          </a:xfrm>
          <a:prstGeom prst="rect">
            <a:avLst/>
          </a:prstGeom>
        </p:spPr>
      </p:pic>
      <p:pic>
        <p:nvPicPr>
          <p:cNvPr id="27" name="Picture 26">
            <a:extLst>
              <a:ext uri="{FF2B5EF4-FFF2-40B4-BE49-F238E27FC236}">
                <a16:creationId xmlns:a16="http://schemas.microsoft.com/office/drawing/2014/main" id="{8F87CD58-E062-CDF4-F810-D0A5DF2329AC}"/>
              </a:ext>
            </a:extLst>
          </p:cNvPr>
          <p:cNvPicPr>
            <a:picLocks noChangeAspect="1"/>
          </p:cNvPicPr>
          <p:nvPr/>
        </p:nvPicPr>
        <p:blipFill>
          <a:blip r:embed="rId5"/>
          <a:stretch>
            <a:fillRect/>
          </a:stretch>
        </p:blipFill>
        <p:spPr>
          <a:xfrm>
            <a:off x="6084448" y="8337661"/>
            <a:ext cx="3158745" cy="1822020"/>
          </a:xfrm>
          <a:prstGeom prst="rect">
            <a:avLst/>
          </a:prstGeom>
        </p:spPr>
      </p:pic>
    </p:spTree>
    <p:extLst>
      <p:ext uri="{BB962C8B-B14F-4D97-AF65-F5344CB8AC3E}">
        <p14:creationId xmlns:p14="http://schemas.microsoft.com/office/powerpoint/2010/main" val="16987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13AD1-F5EF-D472-2071-89F6AAC5F7D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39399C-279E-3BBD-A288-50D8651352AC}"/>
              </a:ext>
            </a:extLst>
          </p:cNvPr>
          <p:cNvSpPr>
            <a:spLocks noGrp="1"/>
          </p:cNvSpPr>
          <p:nvPr>
            <p:ph idx="1"/>
          </p:nvPr>
        </p:nvSpPr>
        <p:spPr/>
        <p:txBody>
          <a:bodyPr>
            <a:normAutofit/>
          </a:bodyPr>
          <a:lstStyle/>
          <a:p>
            <a:r>
              <a:rPr lang="en-GB" sz="1600" dirty="0"/>
              <a:t>or each learner widget:</a:t>
            </a:r>
          </a:p>
          <a:p>
            <a:r>
              <a:rPr lang="en-GB" sz="1600" dirty="0"/>
              <a:t>Open the widget.</a:t>
            </a:r>
          </a:p>
          <a:p>
            <a:r>
              <a:rPr lang="en-GB" sz="1600" dirty="0"/>
              <a:t>Change one hyperparameter (e.g.:</a:t>
            </a:r>
          </a:p>
          <a:p>
            <a:pPr lvl="1"/>
            <a:r>
              <a:rPr lang="en-GB" sz="1600" dirty="0" err="1"/>
              <a:t>kNN</a:t>
            </a:r>
            <a:r>
              <a:rPr lang="en-GB" sz="1600" dirty="0"/>
              <a:t>: change k = 3, 5, 7</a:t>
            </a:r>
          </a:p>
          <a:p>
            <a:pPr lvl="1"/>
            <a:r>
              <a:rPr lang="en-GB" sz="1600" dirty="0"/>
              <a:t>Random Forest: number of trees = 10, 50, 100</a:t>
            </a:r>
          </a:p>
          <a:p>
            <a:pPr lvl="1"/>
            <a:r>
              <a:rPr lang="en-GB" sz="1600" dirty="0"/>
              <a:t>Gradient Boosting: number of trees/iterations</a:t>
            </a:r>
          </a:p>
          <a:p>
            <a:r>
              <a:rPr lang="en-GB" sz="1600" dirty="0"/>
              <a:t>After each change, check Test &amp; Score and record the metric.</a:t>
            </a:r>
          </a:p>
          <a:p>
            <a:endParaRPr lang="en-US" dirty="0"/>
          </a:p>
        </p:txBody>
      </p:sp>
    </p:spTree>
    <p:extLst>
      <p:ext uri="{BB962C8B-B14F-4D97-AF65-F5344CB8AC3E}">
        <p14:creationId xmlns:p14="http://schemas.microsoft.com/office/powerpoint/2010/main" val="37866059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778572B-7D4E-4A33-82E0-6D91E9A8F67C}">
  <ds:schemaRefs>
    <ds:schemaRef ds:uri="http://schemas.microsoft.com/sharepoint/v3/contenttype/forms"/>
  </ds:schemaRefs>
</ds:datastoreItem>
</file>

<file path=customXml/itemProps2.xml><?xml version="1.0" encoding="utf-8"?>
<ds:datastoreItem xmlns:ds="http://schemas.openxmlformats.org/officeDocument/2006/customXml" ds:itemID="{2149E239-D122-40A9-AB11-D677033190C0}">
  <ds:schemaRefs>
    <ds:schemaRef ds:uri="http://purl.org/dc/dcmitype/"/>
    <ds:schemaRef ds:uri="http://schemas.microsoft.com/office/2006/documentManagement/types"/>
    <ds:schemaRef ds:uri="http://www.w3.org/XML/1998/namespace"/>
    <ds:schemaRef ds:uri="http://purl.org/dc/terms/"/>
    <ds:schemaRef ds:uri="4ce3de0b-3eea-4cb9-8254-1efe69defd32"/>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6fa6db5-9f3a-4c93-9e38-61059ee07e95}" enabled="1" method="Privileged" siteId="{4e8d09f7-cc79-4ccb-9149-a4238dd17422}" removed="0"/>
</clbl:labelList>
</file>

<file path=docProps/app.xml><?xml version="1.0" encoding="utf-8"?>
<Properties xmlns="http://schemas.openxmlformats.org/officeDocument/2006/extended-properties" xmlns:vt="http://schemas.openxmlformats.org/officeDocument/2006/docPropsVTypes">
  <TotalTime>14217</TotalTime>
  <Words>1085</Words>
  <Application>Microsoft Macintosh PowerPoint</Application>
  <PresentationFormat>A3 Paper (297x420 mm)</PresentationFormat>
  <Paragraphs>186</Paragraphs>
  <Slides>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Arial</vt:lpstr>
      <vt:lpstr>Arial,Sans-Serif</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Venkata Penmetsa</cp:lastModifiedBy>
  <cp:revision>69</cp:revision>
  <dcterms:created xsi:type="dcterms:W3CDTF">2022-12-31T18:26:39Z</dcterms:created>
  <dcterms:modified xsi:type="dcterms:W3CDTF">2025-12-05T00:00:44Z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